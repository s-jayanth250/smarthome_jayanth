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6"/>
  </p:notesMasterIdLst>
  <p:handoutMasterIdLst>
    <p:handoutMasterId r:id="rId17"/>
  </p:handout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5934"/>
  </p:normalViewPr>
  <p:slideViewPr>
    <p:cSldViewPr snapToGrid="0">
      <p:cViewPr varScale="1">
        <p:scale>
          <a:sx n="78" d="100"/>
          <a:sy n="78" d="100"/>
        </p:scale>
        <p:origin x="878" y="72"/>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1/29/2026</a:t>
            </a:fld>
            <a:endParaRPr lang="en-US" dirty="0"/>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dirty="0"/>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1/29/2026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dirty="0"/>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9553C36-AE66-42A1-BA56-51FF7F8C862C}" type="slidenum">
              <a:rPr lang="en-US" smtClean="0"/>
              <a:t>10</a:t>
            </a:fld>
            <a:endParaRPr lang="en-US" dirty="0"/>
          </a:p>
        </p:txBody>
      </p:sp>
    </p:spTree>
    <p:extLst>
      <p:ext uri="{BB962C8B-B14F-4D97-AF65-F5344CB8AC3E}">
        <p14:creationId xmlns:p14="http://schemas.microsoft.com/office/powerpoint/2010/main" val="3315542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r>
              <a:rPr lang="en-US" dirty="0"/>
              <a:t>20XX</a:t>
            </a:r>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a:t>Click to edit Master title style</a:t>
            </a:r>
            <a:endParaRPr lang="en-US" dirty="0"/>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a:cs typeface="Calibri"/>
              </a:rPr>
              <a:t>Click to edit Master subtitle style</a:t>
            </a:r>
            <a:endParaRPr lang="en-US" dirty="0">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r>
              <a:rPr lang="en-US"/>
              <a:t>Click icon to add picture</a:t>
            </a:r>
            <a:endParaRPr lang="en-US" dirty="0"/>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dirty="0">
                <a:solidFill>
                  <a:schemeClr val="bg1"/>
                </a:solidFill>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r>
              <a:rPr lang="en-US"/>
              <a:t>Click icon to add picture</a:t>
            </a:r>
            <a:endParaRPr lang="en-US" dirty="0"/>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r>
              <a:rPr lang="en-US"/>
              <a:t>Click icon to add picture</a:t>
            </a:r>
            <a:endParaRPr lang="en-US" dirty="0"/>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endParaRPr lang="en-US" dirty="0"/>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r>
              <a:rPr lang="en-US"/>
              <a:t>Click icon to add picture</a:t>
            </a:r>
            <a:endParaRPr lang="en-US" dirty="0"/>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a:solidFill>
                  <a:schemeClr val="tx1"/>
                </a:solidFill>
              </a:rPr>
              <a:t>Click to edit Master subtitle style</a:t>
            </a:r>
            <a:endParaRPr lang="en-US" dirty="0">
              <a:solidFill>
                <a:schemeClr val="tx1"/>
              </a:solidFill>
            </a:endParaRP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a:t>Click to edit Master title style</a:t>
            </a:r>
            <a:endParaRPr lang="en-US" dirty="0"/>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r>
              <a:rPr lang="en-US" sz="1800">
                <a:solidFill>
                  <a:schemeClr val="bg1">
                    <a:lumMod val="85000"/>
                    <a:lumOff val="15000"/>
                  </a:schemeClr>
                </a:solidFill>
              </a:rPr>
              <a:t>Click to edit Master subtitle style</a:t>
            </a:r>
            <a:endParaRPr lang="en-US" sz="1800" dirty="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r>
              <a:rPr lang="en-US"/>
              <a:t>Click icon to add picture</a:t>
            </a:r>
            <a:endParaRPr lang="en-US" dirty="0"/>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r>
              <a:rPr lang="en-US"/>
              <a:t>Click icon to add picture</a:t>
            </a:r>
            <a:endParaRPr lang="en-US" dirty="0"/>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r>
              <a:rPr lang="en-US"/>
              <a:t>Click icon to add picture</a:t>
            </a:r>
            <a:endParaRPr lang="en-US" dirty="0"/>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dirty="0">
                <a:solidFill>
                  <a:srgbClr val="FFFFFF"/>
                </a:solidFill>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bg1"/>
                </a:solidFill>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dirty="0">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r>
              <a:rPr lang="en-US"/>
              <a:t>Click icon to add picture</a:t>
            </a:r>
            <a:endParaRPr lang="en-US" dirty="0"/>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a:t>Click to edit Master title style</a:t>
            </a:r>
            <a:endParaRPr lang="en-US" dirty="0"/>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dirty="0"/>
              <a:t>20XX</a:t>
            </a:r>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dirty="0">
                <a:solidFill>
                  <a:schemeClr val="bg1"/>
                </a:solidFill>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r>
              <a:rPr lang="en-US"/>
              <a:t>Click icon to add picture</a:t>
            </a:r>
            <a:endParaRPr lang="en-US" dirty="0"/>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r>
              <a:rPr lang="en-US"/>
              <a:t>Click icon to add picture</a:t>
            </a:r>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r>
              <a:rPr lang="en-US"/>
              <a:t>Click icon to add picture</a:t>
            </a:r>
            <a:endParaRPr lang="en-US" dirty="0"/>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US" dirty="0"/>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a:t>Click to edit Master title style</a:t>
            </a:r>
            <a:endParaRPr lang="en-US" dirty="0"/>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dirty="0"/>
              <a:t>20XX</a:t>
            </a:r>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a:t>Click to edit Master text styles</a:t>
            </a:r>
          </a:p>
          <a:p>
            <a:pPr lvl="1"/>
            <a:r>
              <a:rPr lang="en-US"/>
              <a:t>Second level</a:t>
            </a:r>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dirty="0"/>
              <a:t>Sample 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r>
              <a:rPr lang="en-US" dirty="0"/>
              <a:t>20XX</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dirty="0"/>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r>
              <a:rPr lang="en-US" dirty="0"/>
              <a:t>20XX</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dirty="0"/>
              <a:t>20XX</a:t>
            </a: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dirty="0"/>
              <a:t>20XX</a:t>
            </a:r>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dirty="0"/>
              <a:t>20XX</a:t>
            </a:r>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616FFC6-B6FD-417B-BDE1-C6395267D6DB}" type="datetimeFigureOut">
              <a:rPr lang="en-US" smtClean="0"/>
              <a:t>1/29/2026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B2B144-E52D-DE49-D425-C01EB224F272}"/>
              </a:ext>
            </a:extLst>
          </p:cNvPr>
          <p:cNvSpPr/>
          <p:nvPr/>
        </p:nvSpPr>
        <p:spPr>
          <a:xfrm>
            <a:off x="926964" y="2032837"/>
            <a:ext cx="9967178" cy="1754326"/>
          </a:xfrm>
          <a:prstGeom prst="rect">
            <a:avLst/>
          </a:prstGeom>
          <a:noFill/>
        </p:spPr>
        <p:txBody>
          <a:bodyPr wrap="square" lIns="91440" tIns="45720" rIns="91440" bIns="45720">
            <a:spAutoFit/>
          </a:bodyPr>
          <a:lstStyle/>
          <a:p>
            <a:pPr algn="ctr"/>
            <a:r>
              <a:rPr lang="en-US"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SMART HOME ENERGY MANAGEMENT SYSTEM</a:t>
            </a:r>
          </a:p>
        </p:txBody>
      </p:sp>
      <p:sp>
        <p:nvSpPr>
          <p:cNvPr id="2" name="TextBox 1">
            <a:extLst>
              <a:ext uri="{FF2B5EF4-FFF2-40B4-BE49-F238E27FC236}">
                <a16:creationId xmlns:a16="http://schemas.microsoft.com/office/drawing/2014/main" id="{5D358912-4CC2-010C-C19E-FA3CABFAA6EB}"/>
              </a:ext>
            </a:extLst>
          </p:cNvPr>
          <p:cNvSpPr txBox="1"/>
          <p:nvPr/>
        </p:nvSpPr>
        <p:spPr>
          <a:xfrm>
            <a:off x="8957187" y="4218039"/>
            <a:ext cx="1504335" cy="400110"/>
          </a:xfrm>
          <a:prstGeom prst="rect">
            <a:avLst/>
          </a:prstGeom>
          <a:noFill/>
        </p:spPr>
        <p:txBody>
          <a:bodyPr wrap="square" rtlCol="0">
            <a:spAutoFit/>
          </a:bodyPr>
          <a:lstStyle/>
          <a:p>
            <a:r>
              <a:rPr lang="en-US" sz="2000" b="1"/>
              <a:t>-Team2</a:t>
            </a:r>
            <a:endParaRPr lang="en-IN" sz="2000" b="1"/>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38C18-52EA-35D2-6EED-4F8F91A2CDDE}"/>
              </a:ext>
            </a:extLst>
          </p:cNvPr>
          <p:cNvSpPr txBox="1"/>
          <p:nvPr/>
        </p:nvSpPr>
        <p:spPr>
          <a:xfrm>
            <a:off x="3903407" y="1838633"/>
            <a:ext cx="8524568" cy="3046988"/>
          </a:xfrm>
          <a:prstGeom prst="rect">
            <a:avLst/>
          </a:prstGeom>
          <a:noFill/>
        </p:spPr>
        <p:txBody>
          <a:bodyPr wrap="square" rtlCol="0">
            <a:spAutoFit/>
          </a:bodyPr>
          <a:lstStyle/>
          <a:p>
            <a:r>
              <a:rPr lang="en-US" sz="2400"/>
              <a:t>Team Members:</a:t>
            </a:r>
          </a:p>
          <a:p>
            <a:endParaRPr lang="en-US" sz="2400"/>
          </a:p>
          <a:p>
            <a:r>
              <a:rPr lang="en-US" sz="2400" b="1"/>
              <a:t>Team Lead </a:t>
            </a:r>
            <a:r>
              <a:rPr lang="en-US" sz="2400"/>
              <a:t>- S Jayanth</a:t>
            </a:r>
          </a:p>
          <a:p>
            <a:r>
              <a:rPr lang="en-US" sz="2400" b="1"/>
              <a:t>Technical Lead </a:t>
            </a:r>
            <a:r>
              <a:rPr lang="en-US" sz="2400"/>
              <a:t>- Kavya </a:t>
            </a:r>
          </a:p>
          <a:p>
            <a:r>
              <a:rPr lang="en-IN" sz="2400" b="1"/>
              <a:t>Developer Core</a:t>
            </a:r>
            <a:r>
              <a:rPr lang="en-IN" sz="2400"/>
              <a:t>- Mounika</a:t>
            </a:r>
          </a:p>
          <a:p>
            <a:r>
              <a:rPr lang="en-IN" sz="2400" b="1"/>
              <a:t>Developer Supporting </a:t>
            </a:r>
            <a:r>
              <a:rPr lang="en-IN" sz="2400"/>
              <a:t>– Dibya</a:t>
            </a:r>
          </a:p>
          <a:p>
            <a:r>
              <a:rPr lang="en-IN" sz="2400" b="1"/>
              <a:t>Tester/Quality Analyst </a:t>
            </a:r>
            <a:r>
              <a:rPr lang="en-IN" sz="2400"/>
              <a:t>– Swetha</a:t>
            </a:r>
          </a:p>
          <a:p>
            <a:r>
              <a:rPr lang="en-IN" sz="2400" b="1"/>
              <a:t>Documentation</a:t>
            </a:r>
            <a:r>
              <a:rPr lang="en-IN" sz="2400"/>
              <a:t>- </a:t>
            </a:r>
          </a:p>
        </p:txBody>
      </p:sp>
    </p:spTree>
    <p:extLst>
      <p:ext uri="{BB962C8B-B14F-4D97-AF65-F5344CB8AC3E}">
        <p14:creationId xmlns:p14="http://schemas.microsoft.com/office/powerpoint/2010/main" val="174520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DFDE50-65F4-439F-E9F0-A3A44FE333F4}"/>
              </a:ext>
            </a:extLst>
          </p:cNvPr>
          <p:cNvSpPr txBox="1"/>
          <p:nvPr/>
        </p:nvSpPr>
        <p:spPr>
          <a:xfrm>
            <a:off x="2197768" y="1032353"/>
            <a:ext cx="7781974" cy="5016758"/>
          </a:xfrm>
          <a:prstGeom prst="rect">
            <a:avLst/>
          </a:prstGeom>
          <a:noFill/>
        </p:spPr>
        <p:txBody>
          <a:bodyPr wrap="square">
            <a:spAutoFit/>
          </a:bodyPr>
          <a:lstStyle/>
          <a:p>
            <a:pPr marL="285750" indent="-285750" algn="just">
              <a:buFont typeface="Wingdings" panose="05000000000000000000" pitchFamily="2" charset="2"/>
              <a:buChar char="Ø"/>
            </a:pPr>
            <a:r>
              <a:rPr lang="en-US" sz="2000">
                <a:latin typeface="Aptos" panose="020B0004020202020204" pitchFamily="34" charset="0"/>
              </a:rPr>
              <a:t>The </a:t>
            </a:r>
            <a:r>
              <a:rPr lang="en-US" sz="2000" b="1">
                <a:latin typeface="Aptos" panose="020B0004020202020204" pitchFamily="34" charset="0"/>
              </a:rPr>
              <a:t>Smart Home Energy Management System</a:t>
            </a:r>
            <a:r>
              <a:rPr lang="en-US" sz="2000">
                <a:latin typeface="Aptos" panose="020B0004020202020204" pitchFamily="34" charset="0"/>
              </a:rPr>
              <a:t> addresses the growing challenge of rising energy consumption and inefficient resource utilization within modern households. As homes become increasingly equipped with electronic appliances and smart devices, monitoring and controlling overall power usage manually becomes complex and impractical.</a:t>
            </a:r>
          </a:p>
          <a:p>
            <a:pPr marL="285750" indent="-285750" algn="just">
              <a:buFont typeface="Wingdings" panose="05000000000000000000" pitchFamily="2" charset="2"/>
              <a:buChar char="Ø"/>
            </a:pPr>
            <a:r>
              <a:rPr lang="en-US" sz="2000">
                <a:latin typeface="Aptos" panose="020B0004020202020204" pitchFamily="34" charset="0"/>
              </a:rPr>
              <a:t>The </a:t>
            </a:r>
            <a:r>
              <a:rPr lang="en-US" sz="2000" b="1">
                <a:latin typeface="Aptos" panose="020B0004020202020204" pitchFamily="34" charset="0"/>
              </a:rPr>
              <a:t>Smart Home Energy Management System</a:t>
            </a:r>
            <a:r>
              <a:rPr lang="en-US" sz="2000">
                <a:latin typeface="Aptos" panose="020B0004020202020204" pitchFamily="34" charset="0"/>
              </a:rPr>
              <a:t> is an intelligent Java-based solution engineered to enhance residential energy efficiency through automated control and data-driven decision-making.</a:t>
            </a:r>
          </a:p>
          <a:p>
            <a:pPr marL="285750" indent="-285750" algn="just">
              <a:buFont typeface="Wingdings" panose="05000000000000000000" pitchFamily="2" charset="2"/>
              <a:buChar char="Ø"/>
            </a:pPr>
            <a:r>
              <a:rPr lang="en-US" sz="2000">
                <a:latin typeface="Aptos" panose="020B0004020202020204" pitchFamily="34" charset="0"/>
              </a:rPr>
              <a:t> The platform enables real-time monitoring of power usage, predictive appliance scheduling, and optimized resource utilization. </a:t>
            </a:r>
          </a:p>
          <a:p>
            <a:pPr marL="285750" indent="-285750" algn="just">
              <a:buFont typeface="Wingdings" panose="05000000000000000000" pitchFamily="2" charset="2"/>
              <a:buChar char="Ø"/>
            </a:pPr>
            <a:r>
              <a:rPr lang="en-US" sz="2000">
                <a:latin typeface="Aptos" panose="020B0004020202020204" pitchFamily="34" charset="0"/>
              </a:rPr>
              <a:t>By integrating smart automation with user-centric insights, the system supports sustainable living while reducing operational energy costs.</a:t>
            </a:r>
          </a:p>
        </p:txBody>
      </p:sp>
    </p:spTree>
    <p:extLst>
      <p:ext uri="{BB962C8B-B14F-4D97-AF65-F5344CB8AC3E}">
        <p14:creationId xmlns:p14="http://schemas.microsoft.com/office/powerpoint/2010/main" val="1032210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DA21C9-10EE-65AA-5F7E-317B37E818C1}"/>
              </a:ext>
            </a:extLst>
          </p:cNvPr>
          <p:cNvSpPr/>
          <p:nvPr/>
        </p:nvSpPr>
        <p:spPr>
          <a:xfrm>
            <a:off x="1423804" y="559286"/>
            <a:ext cx="9010095" cy="923330"/>
          </a:xfrm>
          <a:prstGeom prst="rect">
            <a:avLst/>
          </a:prstGeom>
          <a:noFill/>
        </p:spPr>
        <p:txBody>
          <a:bodyPr wrap="none" lIns="91440" tIns="45720" rIns="91440" bIns="45720">
            <a:spAutoFit/>
          </a:bodyPr>
          <a:lstStyle/>
          <a:p>
            <a:pPr algn="ctr"/>
            <a:r>
              <a:rPr lang="en-IN" sz="5400"/>
              <a:t>Existing Operational Framework</a:t>
            </a:r>
            <a:endParaRPr lang="en-US" sz="5400" b="0" cap="none" spc="0">
              <a:ln w="0"/>
              <a:solidFill>
                <a:schemeClr val="tx1"/>
              </a:solidFill>
              <a:effectLst>
                <a:outerShdw blurRad="38100" dist="19050" dir="2700000" algn="tl" rotWithShape="0">
                  <a:schemeClr val="dk1">
                    <a:alpha val="40000"/>
                  </a:schemeClr>
                </a:outerShdw>
              </a:effectLst>
            </a:endParaRPr>
          </a:p>
        </p:txBody>
      </p:sp>
      <p:sp>
        <p:nvSpPr>
          <p:cNvPr id="3" name="Rectangle 5">
            <a:extLst>
              <a:ext uri="{FF2B5EF4-FFF2-40B4-BE49-F238E27FC236}">
                <a16:creationId xmlns:a16="http://schemas.microsoft.com/office/drawing/2014/main" id="{1AB4331B-DE23-5945-813F-1242451FED41}"/>
              </a:ext>
            </a:extLst>
          </p:cNvPr>
          <p:cNvSpPr>
            <a:spLocks noChangeArrowheads="1"/>
          </p:cNvSpPr>
          <p:nvPr/>
        </p:nvSpPr>
        <p:spPr bwMode="auto">
          <a:xfrm>
            <a:off x="555521" y="1966759"/>
            <a:ext cx="11080955"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100" b="0" i="0" u="none" strike="noStrike" cap="none" normalizeH="0" baseline="0">
                <a:ln>
                  <a:noFill/>
                </a:ln>
                <a:solidFill>
                  <a:schemeClr val="tx1"/>
                </a:solidFill>
                <a:effectLst/>
                <a:latin typeface="Arial" panose="020B0604020202020204" pitchFamily="34" charset="0"/>
              </a:rPr>
              <a:t>Most households currently rely on manual methods for operating and managing electrical appliances.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100" b="0" i="0" u="none" strike="noStrike" cap="none" normalizeH="0" baseline="0">
                <a:ln>
                  <a:noFill/>
                </a:ln>
                <a:solidFill>
                  <a:schemeClr val="tx1"/>
                </a:solidFill>
                <a:effectLst/>
                <a:latin typeface="Arial" panose="020B0604020202020204" pitchFamily="34" charset="0"/>
              </a:rPr>
              <a:t>Users lack access to analytical insights such as peak usage times, appliance-based energy breakdown, or cost forecasting.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100" b="0" i="0" u="none" strike="noStrike" cap="none" normalizeH="0" baseline="0">
                <a:ln>
                  <a:noFill/>
                </a:ln>
                <a:solidFill>
                  <a:schemeClr val="tx1"/>
                </a:solidFill>
                <a:effectLst/>
                <a:latin typeface="Arial" panose="020B0604020202020204" pitchFamily="34" charset="0"/>
              </a:rPr>
              <a:t>Automation features such as scheduled control, load shifting, or energy optimization are generally absent.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100" b="0" i="0" u="none" strike="noStrike" cap="none" normalizeH="0" baseline="0">
                <a:ln>
                  <a:noFill/>
                </a:ln>
                <a:solidFill>
                  <a:schemeClr val="tx1"/>
                </a:solidFill>
                <a:effectLst/>
                <a:latin typeface="Arial" panose="020B0604020202020204" pitchFamily="34" charset="0"/>
              </a:rPr>
              <a:t>Energy wastage frequently occurs due to appliances being left powered on or operated inefficiently.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100" b="0" i="0" u="none" strike="noStrike" cap="none" normalizeH="0" baseline="0">
                <a:ln>
                  <a:noFill/>
                </a:ln>
                <a:solidFill>
                  <a:schemeClr val="tx1"/>
                </a:solidFill>
                <a:effectLst/>
                <a:latin typeface="Arial" panose="020B0604020202020204" pitchFamily="34" charset="0"/>
              </a:rPr>
              <a:t>Remote monitoring and smart control capabilities are limited or not available in traditional home energy setups.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100" b="0" i="0" u="none" strike="noStrike" cap="none" normalizeH="0" baseline="0">
                <a:ln>
                  <a:noFill/>
                </a:ln>
                <a:solidFill>
                  <a:schemeClr val="tx1"/>
                </a:solidFill>
                <a:effectLst/>
                <a:latin typeface="Arial" panose="020B0604020202020204" pitchFamily="34" charset="0"/>
              </a:rPr>
              <a:t>Decision-making is reactive and user-dependent rather than data-driven or automated.</a:t>
            </a:r>
          </a:p>
        </p:txBody>
      </p:sp>
    </p:spTree>
    <p:extLst>
      <p:ext uri="{BB962C8B-B14F-4D97-AF65-F5344CB8AC3E}">
        <p14:creationId xmlns:p14="http://schemas.microsoft.com/office/powerpoint/2010/main" val="1404802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AD4621-8081-D87B-F852-4241640E0CC4}"/>
              </a:ext>
            </a:extLst>
          </p:cNvPr>
          <p:cNvSpPr txBox="1"/>
          <p:nvPr/>
        </p:nvSpPr>
        <p:spPr>
          <a:xfrm>
            <a:off x="629263" y="523257"/>
            <a:ext cx="6096000" cy="707886"/>
          </a:xfrm>
          <a:prstGeom prst="rect">
            <a:avLst/>
          </a:prstGeom>
          <a:noFill/>
        </p:spPr>
        <p:txBody>
          <a:bodyPr wrap="square">
            <a:spAutoFit/>
          </a:bodyPr>
          <a:lstStyle/>
          <a:p>
            <a:r>
              <a:rPr lang="en-IN" sz="4000" b="1">
                <a:ln w="9525">
                  <a:solidFill>
                    <a:schemeClr val="bg1"/>
                  </a:solidFill>
                  <a:prstDash val="solid"/>
                </a:ln>
                <a:effectLst>
                  <a:outerShdw blurRad="12700" dist="38100" dir="2700000" algn="tl" rotWithShape="0">
                    <a:schemeClr val="bg1">
                      <a:lumMod val="50000"/>
                    </a:schemeClr>
                  </a:outerShdw>
                </a:effectLst>
              </a:rPr>
              <a:t>Solution Overview:</a:t>
            </a:r>
          </a:p>
        </p:txBody>
      </p:sp>
      <p:sp>
        <p:nvSpPr>
          <p:cNvPr id="4" name="Rectangle 3">
            <a:extLst>
              <a:ext uri="{FF2B5EF4-FFF2-40B4-BE49-F238E27FC236}">
                <a16:creationId xmlns:a16="http://schemas.microsoft.com/office/drawing/2014/main" id="{8FA23FC5-AFFB-A0AC-08D4-CBC45C6A0AA6}"/>
              </a:ext>
            </a:extLst>
          </p:cNvPr>
          <p:cNvSpPr/>
          <p:nvPr/>
        </p:nvSpPr>
        <p:spPr>
          <a:xfrm>
            <a:off x="4192109" y="2322682"/>
            <a:ext cx="3571811" cy="553998"/>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000" b="1" cap="none" spc="0">
                <a:ln/>
                <a:solidFill>
                  <a:srgbClr val="7030A0"/>
                </a:solidFill>
                <a:effectLst/>
              </a:rPr>
              <a:t>Functional Modules:</a:t>
            </a:r>
          </a:p>
        </p:txBody>
      </p:sp>
      <p:sp>
        <p:nvSpPr>
          <p:cNvPr id="5" name="Rectangle 3">
            <a:extLst>
              <a:ext uri="{FF2B5EF4-FFF2-40B4-BE49-F238E27FC236}">
                <a16:creationId xmlns:a16="http://schemas.microsoft.com/office/drawing/2014/main" id="{B5500A73-C6B5-3FB2-E19D-7F56DDFB5605}"/>
              </a:ext>
            </a:extLst>
          </p:cNvPr>
          <p:cNvSpPr>
            <a:spLocks noChangeArrowheads="1"/>
          </p:cNvSpPr>
          <p:nvPr/>
        </p:nvSpPr>
        <p:spPr bwMode="auto">
          <a:xfrm>
            <a:off x="1929719" y="3898596"/>
            <a:ext cx="63356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Secure login and role-based access control.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Differentiated permissions for admin and user roles.</a:t>
            </a:r>
          </a:p>
        </p:txBody>
      </p:sp>
      <p:sp>
        <p:nvSpPr>
          <p:cNvPr id="6" name="TextBox 5">
            <a:extLst>
              <a:ext uri="{FF2B5EF4-FFF2-40B4-BE49-F238E27FC236}">
                <a16:creationId xmlns:a16="http://schemas.microsoft.com/office/drawing/2014/main" id="{11DF69B8-1C51-EA9A-1BF7-57434B319558}"/>
              </a:ext>
            </a:extLst>
          </p:cNvPr>
          <p:cNvSpPr txBox="1"/>
          <p:nvPr/>
        </p:nvSpPr>
        <p:spPr>
          <a:xfrm>
            <a:off x="1929719" y="5757159"/>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Add, remove, and configure smart home devices.</a:t>
            </a:r>
            <a:endParaRPr lang="en-IN">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6E9622E-B21B-4D3C-BD77-13D782E95BA3}"/>
              </a:ext>
            </a:extLst>
          </p:cNvPr>
          <p:cNvSpPr txBox="1"/>
          <p:nvPr/>
        </p:nvSpPr>
        <p:spPr>
          <a:xfrm>
            <a:off x="698091" y="1450238"/>
            <a:ext cx="10982632" cy="707886"/>
          </a:xfrm>
          <a:prstGeom prst="rect">
            <a:avLst/>
          </a:prstGeom>
          <a:noFill/>
        </p:spPr>
        <p:txBody>
          <a:bodyPr wrap="square">
            <a:spAutoFit/>
          </a:bodyPr>
          <a:lstStyle/>
          <a:p>
            <a:r>
              <a:rPr lang="en-US" sz="2000"/>
              <a:t>A Java-based Smart Home Energy Management System designed to optimize energy usage, automate device control, and provide intelligent consumption insights.</a:t>
            </a:r>
            <a:endParaRPr lang="en-IN" sz="2000"/>
          </a:p>
        </p:txBody>
      </p:sp>
      <p:sp>
        <p:nvSpPr>
          <p:cNvPr id="8" name="TextBox 7">
            <a:extLst>
              <a:ext uri="{FF2B5EF4-FFF2-40B4-BE49-F238E27FC236}">
                <a16:creationId xmlns:a16="http://schemas.microsoft.com/office/drawing/2014/main" id="{8B65C490-8214-BCC5-DE27-EB866FC983DB}"/>
              </a:ext>
            </a:extLst>
          </p:cNvPr>
          <p:cNvSpPr txBox="1"/>
          <p:nvPr/>
        </p:nvSpPr>
        <p:spPr>
          <a:xfrm>
            <a:off x="481779" y="3205797"/>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Authentication &amp; Role Management</a:t>
            </a:r>
            <a:r>
              <a:rPr lang="en-IN" sz="2000"/>
              <a:t>🔐</a:t>
            </a:r>
            <a:endParaRPr lang="en-IN" sz="2000">
              <a:latin typeface="Eras Bold ITC" panose="020B0907030504020204" pitchFamily="34" charset="0"/>
            </a:endParaRPr>
          </a:p>
        </p:txBody>
      </p:sp>
      <p:sp>
        <p:nvSpPr>
          <p:cNvPr id="9" name="TextBox 8">
            <a:extLst>
              <a:ext uri="{FF2B5EF4-FFF2-40B4-BE49-F238E27FC236}">
                <a16:creationId xmlns:a16="http://schemas.microsoft.com/office/drawing/2014/main" id="{07563879-9417-9940-9052-ED900934D6F0}"/>
              </a:ext>
            </a:extLst>
          </p:cNvPr>
          <p:cNvSpPr txBox="1"/>
          <p:nvPr/>
        </p:nvSpPr>
        <p:spPr>
          <a:xfrm>
            <a:off x="481779" y="4950988"/>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US" sz="2000" b="1">
                <a:latin typeface="Eras Bold ITC" panose="020B0907030504020204" pitchFamily="34" charset="0"/>
              </a:rPr>
              <a:t> Device Management</a:t>
            </a:r>
            <a:r>
              <a:rPr lang="en-IN" sz="2000"/>
              <a:t>⚙️</a:t>
            </a:r>
            <a:endParaRPr lang="en-US" sz="2000">
              <a:latin typeface="Eras Bold ITC" panose="020B0907030504020204" pitchFamily="34" charset="0"/>
            </a:endParaRPr>
          </a:p>
        </p:txBody>
      </p:sp>
    </p:spTree>
    <p:extLst>
      <p:ext uri="{BB962C8B-B14F-4D97-AF65-F5344CB8AC3E}">
        <p14:creationId xmlns:p14="http://schemas.microsoft.com/office/powerpoint/2010/main" val="840317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03022F-B445-0BE0-26C3-8FD8D08D7692}"/>
              </a:ext>
            </a:extLst>
          </p:cNvPr>
          <p:cNvSpPr txBox="1"/>
          <p:nvPr/>
        </p:nvSpPr>
        <p:spPr>
          <a:xfrm>
            <a:off x="786581" y="2245408"/>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Analytics Dashboard</a:t>
            </a:r>
            <a:r>
              <a:rPr lang="en-IN" sz="2000"/>
              <a:t>📈 </a:t>
            </a:r>
            <a:endParaRPr lang="en-IN" sz="2000">
              <a:latin typeface="Eras Bold ITC" panose="020B0907030504020204" pitchFamily="34" charset="0"/>
            </a:endParaRPr>
          </a:p>
        </p:txBody>
      </p:sp>
      <p:sp>
        <p:nvSpPr>
          <p:cNvPr id="3" name="TextBox 2">
            <a:extLst>
              <a:ext uri="{FF2B5EF4-FFF2-40B4-BE49-F238E27FC236}">
                <a16:creationId xmlns:a16="http://schemas.microsoft.com/office/drawing/2014/main" id="{B63208C2-7C74-FCFE-F2F1-D4FD87FE0594}"/>
              </a:ext>
            </a:extLst>
          </p:cNvPr>
          <p:cNvSpPr txBox="1"/>
          <p:nvPr/>
        </p:nvSpPr>
        <p:spPr>
          <a:xfrm>
            <a:off x="786581" y="4072872"/>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Scheduling &amp; Automation</a:t>
            </a:r>
            <a:r>
              <a:rPr lang="en-IN" sz="2000"/>
              <a:t>⏱</a:t>
            </a:r>
            <a:endParaRPr lang="en-IN" sz="2000">
              <a:latin typeface="Eras Bold ITC" panose="020B0907030504020204" pitchFamily="34" charset="0"/>
            </a:endParaRPr>
          </a:p>
        </p:txBody>
      </p:sp>
      <p:sp>
        <p:nvSpPr>
          <p:cNvPr id="4" name="TextBox 3">
            <a:extLst>
              <a:ext uri="{FF2B5EF4-FFF2-40B4-BE49-F238E27FC236}">
                <a16:creationId xmlns:a16="http://schemas.microsoft.com/office/drawing/2014/main" id="{ADBE7D6B-8250-C165-169F-B2F030481B04}"/>
              </a:ext>
            </a:extLst>
          </p:cNvPr>
          <p:cNvSpPr txBox="1"/>
          <p:nvPr/>
        </p:nvSpPr>
        <p:spPr>
          <a:xfrm>
            <a:off x="786581" y="992012"/>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Real-Time Energy Tracking</a:t>
            </a:r>
            <a:r>
              <a:rPr lang="en-IN" sz="2000"/>
              <a:t>📊 </a:t>
            </a:r>
            <a:endParaRPr lang="en-IN" sz="2000">
              <a:latin typeface="Eras Bold ITC" panose="020B0907030504020204" pitchFamily="34" charset="0"/>
            </a:endParaRPr>
          </a:p>
        </p:txBody>
      </p:sp>
      <p:sp>
        <p:nvSpPr>
          <p:cNvPr id="5" name="TextBox 4">
            <a:extLst>
              <a:ext uri="{FF2B5EF4-FFF2-40B4-BE49-F238E27FC236}">
                <a16:creationId xmlns:a16="http://schemas.microsoft.com/office/drawing/2014/main" id="{85A9BFB7-BE66-D0B0-3AB0-0610EAA42BFE}"/>
              </a:ext>
            </a:extLst>
          </p:cNvPr>
          <p:cNvSpPr txBox="1"/>
          <p:nvPr/>
        </p:nvSpPr>
        <p:spPr>
          <a:xfrm>
            <a:off x="1838632" y="1674912"/>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Live monitoring of appliance-level power consumption.</a:t>
            </a:r>
            <a:endParaRPr lang="en-IN">
              <a:latin typeface="Arial" panose="020B060402020202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D035DD2D-DE19-33A5-0A65-DCC4A34EA0DC}"/>
              </a:ext>
            </a:extLst>
          </p:cNvPr>
          <p:cNvSpPr>
            <a:spLocks noChangeArrowheads="1"/>
          </p:cNvSpPr>
          <p:nvPr/>
        </p:nvSpPr>
        <p:spPr bwMode="auto">
          <a:xfrm>
            <a:off x="1838632" y="2897530"/>
            <a:ext cx="65679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Visual reports, trends, and consumption summaries.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Data-driven insights to support energy optimization</a:t>
            </a:r>
          </a:p>
        </p:txBody>
      </p:sp>
      <p:sp>
        <p:nvSpPr>
          <p:cNvPr id="7" name="TextBox 6">
            <a:extLst>
              <a:ext uri="{FF2B5EF4-FFF2-40B4-BE49-F238E27FC236}">
                <a16:creationId xmlns:a16="http://schemas.microsoft.com/office/drawing/2014/main" id="{2DB98AE9-8D2F-C683-7A15-A6ED5B177D10}"/>
              </a:ext>
            </a:extLst>
          </p:cNvPr>
          <p:cNvSpPr txBox="1"/>
          <p:nvPr/>
        </p:nvSpPr>
        <p:spPr>
          <a:xfrm>
            <a:off x="1769806" y="4878882"/>
            <a:ext cx="6096000" cy="646331"/>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Smart rules based on time, usage patterns, or energy goals.</a:t>
            </a:r>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917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4BED5F-E724-E0D9-31E8-EC5C241BD6A0}"/>
              </a:ext>
            </a:extLst>
          </p:cNvPr>
          <p:cNvSpPr/>
          <p:nvPr/>
        </p:nvSpPr>
        <p:spPr>
          <a:xfrm>
            <a:off x="4554559" y="479773"/>
            <a:ext cx="3259867"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Tech Stack </a:t>
            </a:r>
          </a:p>
        </p:txBody>
      </p:sp>
      <p:sp>
        <p:nvSpPr>
          <p:cNvPr id="3" name="TextBox 2">
            <a:extLst>
              <a:ext uri="{FF2B5EF4-FFF2-40B4-BE49-F238E27FC236}">
                <a16:creationId xmlns:a16="http://schemas.microsoft.com/office/drawing/2014/main" id="{7B00CF39-59A0-3A6E-C858-460DD81CB856}"/>
              </a:ext>
            </a:extLst>
          </p:cNvPr>
          <p:cNvSpPr txBox="1"/>
          <p:nvPr/>
        </p:nvSpPr>
        <p:spPr>
          <a:xfrm>
            <a:off x="968478" y="1558947"/>
            <a:ext cx="6110748" cy="430887"/>
          </a:xfrm>
          <a:prstGeom prst="rect">
            <a:avLst/>
          </a:prstGeom>
          <a:noFill/>
        </p:spPr>
        <p:txBody>
          <a:bodyPr wrap="square" rtlCol="0">
            <a:spAutoFit/>
          </a:bodyPr>
          <a:lstStyle/>
          <a:p>
            <a:r>
              <a:rPr lang="en-US" sz="2200">
                <a:latin typeface="Eras Bold ITC" panose="020B0907030504020204" pitchFamily="34" charset="0"/>
              </a:rPr>
              <a:t>Front End:</a:t>
            </a:r>
            <a:r>
              <a:rPr lang="en-US" sz="2200">
                <a:latin typeface="Aptos" panose="020B0004020202020204" pitchFamily="34" charset="0"/>
                <a:sym typeface="Wingdings" panose="05000000000000000000" pitchFamily="2" charset="2"/>
              </a:rPr>
              <a:t>Html</a:t>
            </a:r>
            <a:r>
              <a:rPr lang="en-IN" sz="2200">
                <a:latin typeface="Aptos" panose="020B0004020202020204" pitchFamily="34" charset="0"/>
                <a:sym typeface="Wingdings" panose="05000000000000000000" pitchFamily="2" charset="2"/>
              </a:rPr>
              <a:t>/CSS/Bootstrap</a:t>
            </a:r>
          </a:p>
        </p:txBody>
      </p:sp>
      <p:sp>
        <p:nvSpPr>
          <p:cNvPr id="4" name="TextBox 3">
            <a:extLst>
              <a:ext uri="{FF2B5EF4-FFF2-40B4-BE49-F238E27FC236}">
                <a16:creationId xmlns:a16="http://schemas.microsoft.com/office/drawing/2014/main" id="{7EC52D77-1F5E-2C7D-0C19-1A73B7AE0983}"/>
              </a:ext>
            </a:extLst>
          </p:cNvPr>
          <p:cNvSpPr txBox="1"/>
          <p:nvPr/>
        </p:nvSpPr>
        <p:spPr>
          <a:xfrm>
            <a:off x="968478" y="2112945"/>
            <a:ext cx="9615948" cy="2462213"/>
          </a:xfrm>
          <a:prstGeom prst="rect">
            <a:avLst/>
          </a:prstGeom>
          <a:noFill/>
        </p:spPr>
        <p:txBody>
          <a:bodyPr wrap="square" rtlCol="0">
            <a:spAutoFit/>
          </a:bodyPr>
          <a:lstStyle/>
          <a:p>
            <a:r>
              <a:rPr lang="en-US" sz="2200">
                <a:latin typeface="Eras Bold ITC" panose="020B0907030504020204" pitchFamily="34" charset="0"/>
              </a:rPr>
              <a:t>Back End:</a:t>
            </a:r>
          </a:p>
          <a:p>
            <a:pPr marL="800100" lvl="1" indent="-342900">
              <a:buFont typeface="Arial" panose="020B0604020202020204" pitchFamily="34" charset="0"/>
              <a:buChar char="•"/>
            </a:pPr>
            <a:r>
              <a:rPr lang="en-US" sz="2200">
                <a:latin typeface="Aptos" panose="020B0004020202020204" pitchFamily="34" charset="0"/>
              </a:rPr>
              <a:t>Java 17 or higher  </a:t>
            </a:r>
            <a:r>
              <a:rPr lang="en-US" sz="2200">
                <a:latin typeface="Aptos" panose="020B0004020202020204" pitchFamily="34" charset="0"/>
                <a:sym typeface="Wingdings" panose="05000000000000000000" pitchFamily="2" charset="2"/>
              </a:rPr>
              <a:t>Stable version</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Spring Boot  Auto configures project and helps to build REST API</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JDBC   Connects java to database</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Hibernate  for ORM</a:t>
            </a:r>
          </a:p>
          <a:p>
            <a:pPr marL="800100" lvl="1" indent="-342900">
              <a:buFont typeface="Arial" panose="020B0604020202020204" pitchFamily="34" charset="0"/>
              <a:buChar char="•"/>
            </a:pPr>
            <a:r>
              <a:rPr lang="en-US" sz="2200">
                <a:latin typeface="Aptos" panose="020B0004020202020204" pitchFamily="34" charset="0"/>
              </a:rPr>
              <a:t>REST API </a:t>
            </a:r>
            <a:r>
              <a:rPr lang="en-US" sz="2200">
                <a:latin typeface="Aptos" panose="020B0004020202020204" pitchFamily="34" charset="0"/>
                <a:sym typeface="Wingdings" panose="05000000000000000000" pitchFamily="2" charset="2"/>
              </a:rPr>
              <a:t> Enables easy communication</a:t>
            </a:r>
            <a:endParaRPr lang="en-US" sz="2200">
              <a:latin typeface="Aptos" panose="020B0004020202020204" pitchFamily="34" charset="0"/>
            </a:endParaRPr>
          </a:p>
          <a:p>
            <a:pPr marL="800100" lvl="1" indent="-342900">
              <a:buFont typeface="Arial" panose="020B0604020202020204" pitchFamily="34" charset="0"/>
              <a:buChar char="•"/>
            </a:pPr>
            <a:endParaRPr lang="en-IN" sz="2200">
              <a:latin typeface="Aptos" panose="020B0004020202020204" pitchFamily="34" charset="0"/>
            </a:endParaRPr>
          </a:p>
        </p:txBody>
      </p:sp>
      <p:sp>
        <p:nvSpPr>
          <p:cNvPr id="5" name="TextBox 4">
            <a:extLst>
              <a:ext uri="{FF2B5EF4-FFF2-40B4-BE49-F238E27FC236}">
                <a16:creationId xmlns:a16="http://schemas.microsoft.com/office/drawing/2014/main" id="{544A4300-5DC3-27C2-69FB-CBFB39D8D001}"/>
              </a:ext>
            </a:extLst>
          </p:cNvPr>
          <p:cNvSpPr txBox="1"/>
          <p:nvPr/>
        </p:nvSpPr>
        <p:spPr>
          <a:xfrm>
            <a:off x="968478" y="4190438"/>
            <a:ext cx="9016180" cy="769441"/>
          </a:xfrm>
          <a:prstGeom prst="rect">
            <a:avLst/>
          </a:prstGeom>
          <a:noFill/>
        </p:spPr>
        <p:txBody>
          <a:bodyPr wrap="square" rtlCol="0">
            <a:spAutoFit/>
          </a:bodyPr>
          <a:lstStyle/>
          <a:p>
            <a:r>
              <a:rPr lang="en-US" sz="2200">
                <a:latin typeface="Eras Bold ITC" panose="020B0907030504020204" pitchFamily="34" charset="0"/>
              </a:rPr>
              <a:t>Data Base:</a:t>
            </a:r>
          </a:p>
          <a:p>
            <a:pPr marL="800100" lvl="1" indent="-342900">
              <a:buFont typeface="Arial" panose="020B0604020202020204" pitchFamily="34" charset="0"/>
              <a:buChar char="•"/>
            </a:pPr>
            <a:r>
              <a:rPr lang="en-IN" sz="2200">
                <a:latin typeface="Aptos" panose="020B0004020202020204" pitchFamily="34" charset="0"/>
              </a:rPr>
              <a:t>MySql </a:t>
            </a:r>
            <a:r>
              <a:rPr lang="en-IN" sz="2200">
                <a:latin typeface="Aptos" panose="020B0004020202020204" pitchFamily="34" charset="0"/>
                <a:sym typeface="Wingdings" panose="05000000000000000000" pitchFamily="2" charset="2"/>
              </a:rPr>
              <a:t> table format and structured / Relational Databses</a:t>
            </a:r>
            <a:endParaRPr lang="en-IN" sz="2200">
              <a:latin typeface="Aptos" panose="020B0004020202020204" pitchFamily="34" charset="0"/>
            </a:endParaRPr>
          </a:p>
        </p:txBody>
      </p:sp>
      <p:sp>
        <p:nvSpPr>
          <p:cNvPr id="6" name="TextBox 5">
            <a:extLst>
              <a:ext uri="{FF2B5EF4-FFF2-40B4-BE49-F238E27FC236}">
                <a16:creationId xmlns:a16="http://schemas.microsoft.com/office/drawing/2014/main" id="{76B55DCB-30F6-3ED4-819B-FA43C6A172DD}"/>
              </a:ext>
            </a:extLst>
          </p:cNvPr>
          <p:cNvSpPr txBox="1"/>
          <p:nvPr/>
        </p:nvSpPr>
        <p:spPr>
          <a:xfrm>
            <a:off x="968478" y="5082989"/>
            <a:ext cx="5702710" cy="430887"/>
          </a:xfrm>
          <a:prstGeom prst="rect">
            <a:avLst/>
          </a:prstGeom>
          <a:noFill/>
        </p:spPr>
        <p:txBody>
          <a:bodyPr wrap="square" rtlCol="0">
            <a:spAutoFit/>
          </a:bodyPr>
          <a:lstStyle/>
          <a:p>
            <a:r>
              <a:rPr lang="en-US" sz="2200">
                <a:latin typeface="Eras Bold ITC" panose="020B0907030504020204" pitchFamily="34" charset="0"/>
              </a:rPr>
              <a:t>Version Control: </a:t>
            </a:r>
            <a:r>
              <a:rPr lang="en-US" sz="2200">
                <a:latin typeface="Aptos" panose="020B0004020202020204" pitchFamily="34" charset="0"/>
              </a:rPr>
              <a:t>Git &amp; Git Hub</a:t>
            </a:r>
            <a:endParaRPr lang="en-IN" sz="2200">
              <a:latin typeface="Eras Bold ITC" panose="020B0907030504020204" pitchFamily="34" charset="0"/>
            </a:endParaRPr>
          </a:p>
        </p:txBody>
      </p:sp>
      <p:sp>
        <p:nvSpPr>
          <p:cNvPr id="7" name="TextBox 6">
            <a:extLst>
              <a:ext uri="{FF2B5EF4-FFF2-40B4-BE49-F238E27FC236}">
                <a16:creationId xmlns:a16="http://schemas.microsoft.com/office/drawing/2014/main" id="{CBF4C9BA-98C9-9243-21F5-607E613A89DA}"/>
              </a:ext>
            </a:extLst>
          </p:cNvPr>
          <p:cNvSpPr txBox="1"/>
          <p:nvPr/>
        </p:nvSpPr>
        <p:spPr>
          <a:xfrm>
            <a:off x="983225" y="5636987"/>
            <a:ext cx="4689987" cy="430887"/>
          </a:xfrm>
          <a:prstGeom prst="rect">
            <a:avLst/>
          </a:prstGeom>
          <a:noFill/>
        </p:spPr>
        <p:txBody>
          <a:bodyPr wrap="square" rtlCol="0">
            <a:spAutoFit/>
          </a:bodyPr>
          <a:lstStyle/>
          <a:p>
            <a:r>
              <a:rPr lang="en-US" sz="2200" b="1">
                <a:latin typeface="Eras Bold ITC" panose="020B0907030504020204" pitchFamily="34" charset="0"/>
              </a:rPr>
              <a:t>IDE:</a:t>
            </a:r>
            <a:r>
              <a:rPr lang="en-US" sz="2200"/>
              <a:t>      IntelliJ/Vs code</a:t>
            </a:r>
            <a:endParaRPr lang="en-IN" sz="2200"/>
          </a:p>
        </p:txBody>
      </p:sp>
    </p:spTree>
    <p:extLst>
      <p:ext uri="{BB962C8B-B14F-4D97-AF65-F5344CB8AC3E}">
        <p14:creationId xmlns:p14="http://schemas.microsoft.com/office/powerpoint/2010/main" val="3972966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8">
            <a:extLst>
              <a:ext uri="{FF2B5EF4-FFF2-40B4-BE49-F238E27FC236}">
                <a16:creationId xmlns:a16="http://schemas.microsoft.com/office/drawing/2014/main" id="{297D4B3E-8A62-4EDF-9916-C308A320F4C5}"/>
              </a:ext>
            </a:extLst>
          </p:cNvPr>
          <p:cNvSpPr>
            <a:spLocks noChangeAspect="1" noChangeArrowheads="1"/>
          </p:cNvSpPr>
          <p:nvPr/>
        </p:nvSpPr>
        <p:spPr bwMode="auto">
          <a:xfrm>
            <a:off x="6400799" y="3733799"/>
            <a:ext cx="4247535" cy="424753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B43DFE14-0A76-5F26-7E72-F3C78C9D3700}"/>
              </a:ext>
            </a:extLst>
          </p:cNvPr>
          <p:cNvPicPr>
            <a:picLocks noChangeAspect="1"/>
          </p:cNvPicPr>
          <p:nvPr/>
        </p:nvPicPr>
        <p:blipFill>
          <a:blip r:embed="rId2"/>
          <a:srcRect l="1" r="-1828" b="9625"/>
          <a:stretch>
            <a:fillRect/>
          </a:stretch>
        </p:blipFill>
        <p:spPr>
          <a:xfrm>
            <a:off x="3561739" y="1176962"/>
            <a:ext cx="4655574" cy="5161933"/>
          </a:xfrm>
          <a:prstGeom prst="rect">
            <a:avLst/>
          </a:prstGeom>
        </p:spPr>
      </p:pic>
      <p:sp>
        <p:nvSpPr>
          <p:cNvPr id="4" name="Rectangle 3">
            <a:extLst>
              <a:ext uri="{FF2B5EF4-FFF2-40B4-BE49-F238E27FC236}">
                <a16:creationId xmlns:a16="http://schemas.microsoft.com/office/drawing/2014/main" id="{0C820DCC-4A62-D4D4-111A-46A252B3AF00}"/>
              </a:ext>
            </a:extLst>
          </p:cNvPr>
          <p:cNvSpPr/>
          <p:nvPr/>
        </p:nvSpPr>
        <p:spPr>
          <a:xfrm>
            <a:off x="2860819" y="253632"/>
            <a:ext cx="6470362"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cap="none" spc="0">
                <a:ln/>
                <a:solidFill>
                  <a:schemeClr val="accent4"/>
                </a:solidFill>
                <a:effectLst/>
              </a:rPr>
              <a:t>System Architechture</a:t>
            </a:r>
          </a:p>
        </p:txBody>
      </p:sp>
    </p:spTree>
    <p:extLst>
      <p:ext uri="{BB962C8B-B14F-4D97-AF65-F5344CB8AC3E}">
        <p14:creationId xmlns:p14="http://schemas.microsoft.com/office/powerpoint/2010/main" val="3741849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C3F8F6-241F-E9FB-4A90-5D83310E842A}"/>
              </a:ext>
            </a:extLst>
          </p:cNvPr>
          <p:cNvSpPr/>
          <p:nvPr/>
        </p:nvSpPr>
        <p:spPr>
          <a:xfrm>
            <a:off x="4912824" y="361787"/>
            <a:ext cx="2366352" cy="707886"/>
          </a:xfrm>
          <a:prstGeom prst="rect">
            <a:avLst/>
          </a:prstGeom>
          <a:noFill/>
        </p:spPr>
        <p:txBody>
          <a:bodyPr wrap="none" lIns="91440" tIns="45720" rIns="91440" bIns="45720">
            <a:spAutoFit/>
          </a:bodyPr>
          <a:lstStyle/>
          <a:p>
            <a:pPr algn="ctr"/>
            <a:r>
              <a:rPr lang="en-US" sz="4000" b="1" cap="none" spc="0">
                <a:ln w="9525">
                  <a:solidFill>
                    <a:schemeClr val="bg1"/>
                  </a:solidFill>
                  <a:prstDash val="solid"/>
                </a:ln>
                <a:solidFill>
                  <a:schemeClr val="tx1"/>
                </a:solidFill>
                <a:effectLst>
                  <a:outerShdw blurRad="12700" dist="38100" dir="2700000" algn="tl" rotWithShape="0">
                    <a:schemeClr val="bg1">
                      <a:lumMod val="50000"/>
                    </a:schemeClr>
                  </a:outerShdw>
                </a:effectLst>
              </a:rPr>
              <a:t>Module -1</a:t>
            </a:r>
          </a:p>
        </p:txBody>
      </p:sp>
      <p:sp>
        <p:nvSpPr>
          <p:cNvPr id="3" name="TextBox 2">
            <a:extLst>
              <a:ext uri="{FF2B5EF4-FFF2-40B4-BE49-F238E27FC236}">
                <a16:creationId xmlns:a16="http://schemas.microsoft.com/office/drawing/2014/main" id="{EE300619-33B4-DD9C-7532-2575E8D4EDCB}"/>
              </a:ext>
            </a:extLst>
          </p:cNvPr>
          <p:cNvSpPr txBox="1"/>
          <p:nvPr/>
        </p:nvSpPr>
        <p:spPr>
          <a:xfrm>
            <a:off x="2684206" y="1384306"/>
            <a:ext cx="6656439" cy="461665"/>
          </a:xfrm>
          <a:prstGeom prst="rect">
            <a:avLst/>
          </a:prstGeom>
          <a:noFill/>
        </p:spPr>
        <p:txBody>
          <a:bodyPr wrap="square" rtlCol="0">
            <a:spAutoFit/>
          </a:bodyPr>
          <a:lstStyle/>
          <a:p>
            <a:pPr algn="ctr"/>
            <a:r>
              <a:rPr lang="en-IN" sz="2400">
                <a:latin typeface="Eras Bold ITC" panose="020B0907030504020204" pitchFamily="34" charset="0"/>
              </a:rPr>
              <a:t>Authentication and role management</a:t>
            </a:r>
          </a:p>
        </p:txBody>
      </p:sp>
      <p:sp>
        <p:nvSpPr>
          <p:cNvPr id="4" name="TextBox 3">
            <a:extLst>
              <a:ext uri="{FF2B5EF4-FFF2-40B4-BE49-F238E27FC236}">
                <a16:creationId xmlns:a16="http://schemas.microsoft.com/office/drawing/2014/main" id="{E49D5148-498C-D08A-C2F2-260A80C2C1C7}"/>
              </a:ext>
            </a:extLst>
          </p:cNvPr>
          <p:cNvSpPr txBox="1"/>
          <p:nvPr/>
        </p:nvSpPr>
        <p:spPr>
          <a:xfrm>
            <a:off x="1012723" y="1995948"/>
            <a:ext cx="9930580" cy="1708160"/>
          </a:xfrm>
          <a:prstGeom prst="rect">
            <a:avLst/>
          </a:prstGeom>
          <a:noFill/>
        </p:spPr>
        <p:txBody>
          <a:bodyPr wrap="square" rtlCol="0">
            <a:spAutoFit/>
          </a:bodyPr>
          <a:lstStyle/>
          <a:p>
            <a:pPr algn="just"/>
            <a:r>
              <a:rPr lang="en-US" sz="2100"/>
              <a:t>The Authentication and Role Management module is responsible for validating user credentials and assigning appropriate access privileges within the system. When a user attempts to log in, the system verifies the provided username and password against securely stored credentials in the database. Passwords are stored in an encrypted format to ensure data privacy and protection.</a:t>
            </a:r>
            <a:endParaRPr lang="en-IN" sz="2100"/>
          </a:p>
        </p:txBody>
      </p:sp>
      <p:sp>
        <p:nvSpPr>
          <p:cNvPr id="5" name="Rectangle 1">
            <a:extLst>
              <a:ext uri="{FF2B5EF4-FFF2-40B4-BE49-F238E27FC236}">
                <a16:creationId xmlns:a16="http://schemas.microsoft.com/office/drawing/2014/main" id="{003ED78F-350C-3789-BA06-1BE623E4CC34}"/>
              </a:ext>
            </a:extLst>
          </p:cNvPr>
          <p:cNvSpPr>
            <a:spLocks noChangeArrowheads="1"/>
          </p:cNvSpPr>
          <p:nvPr/>
        </p:nvSpPr>
        <p:spPr bwMode="auto">
          <a:xfrm>
            <a:off x="1140542" y="4171100"/>
            <a:ext cx="873104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a:ln>
                  <a:noFill/>
                </a:ln>
                <a:solidFill>
                  <a:schemeClr val="tx1"/>
                </a:solidFill>
                <a:effectLst/>
                <a:latin typeface="Arial" panose="020B0604020202020204" pitchFamily="34" charset="0"/>
              </a:rPr>
              <a:t>Admins</a:t>
            </a:r>
            <a:r>
              <a:rPr kumimoji="0" lang="en-US" altLang="en-US" sz="1800" b="0" i="0" u="none" strike="noStrike" cap="none" normalizeH="0" baseline="0">
                <a:ln>
                  <a:noFill/>
                </a:ln>
                <a:solidFill>
                  <a:schemeClr val="tx1"/>
                </a:solidFill>
                <a:effectLst/>
                <a:latin typeface="Arial" panose="020B0604020202020204" pitchFamily="34" charset="0"/>
              </a:rPr>
              <a:t> have extended control, including managing users, viewing system-wide energy data, and configuring devices.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a:ln>
                  <a:noFill/>
                </a:ln>
                <a:solidFill>
                  <a:schemeClr val="tx1"/>
                </a:solidFill>
                <a:effectLst/>
                <a:latin typeface="Arial" panose="020B0604020202020204" pitchFamily="34" charset="0"/>
              </a:rPr>
              <a:t>Standard Users</a:t>
            </a:r>
            <a:r>
              <a:rPr kumimoji="0" lang="en-US" altLang="en-US" sz="1800" b="0" i="0" u="none" strike="noStrike" cap="none" normalizeH="0" baseline="0">
                <a:ln>
                  <a:noFill/>
                </a:ln>
                <a:solidFill>
                  <a:schemeClr val="tx1"/>
                </a:solidFill>
                <a:effectLst/>
                <a:latin typeface="Arial" panose="020B0604020202020204" pitchFamily="34" charset="0"/>
              </a:rPr>
              <a:t> are provided access to personal dashboards with device control, energy tracking, scheduling, and usage tips.</a:t>
            </a:r>
          </a:p>
        </p:txBody>
      </p:sp>
    </p:spTree>
    <p:extLst>
      <p:ext uri="{BB962C8B-B14F-4D97-AF65-F5344CB8AC3E}">
        <p14:creationId xmlns:p14="http://schemas.microsoft.com/office/powerpoint/2010/main" val="322960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37046757-D469-DE4B-5BAF-2EE37CC15E93}"/>
              </a:ext>
            </a:extLst>
          </p:cNvPr>
          <p:cNvSpPr>
            <a:spLocks noChangeAspect="1" noChangeArrowheads="1"/>
          </p:cNvSpPr>
          <p:nvPr/>
        </p:nvSpPr>
        <p:spPr bwMode="auto">
          <a:xfrm>
            <a:off x="5861956" y="-571500"/>
            <a:ext cx="5739493" cy="57394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Generated image">
            <a:extLst>
              <a:ext uri="{FF2B5EF4-FFF2-40B4-BE49-F238E27FC236}">
                <a16:creationId xmlns:a16="http://schemas.microsoft.com/office/drawing/2014/main" id="{200CBCAE-6DF7-3E80-E75B-41A6E8F2F86D}"/>
              </a:ext>
            </a:extLst>
          </p:cNvPr>
          <p:cNvSpPr>
            <a:spLocks noChangeAspect="1" noChangeArrowheads="1"/>
          </p:cNvSpPr>
          <p:nvPr/>
        </p:nvSpPr>
        <p:spPr bwMode="auto">
          <a:xfrm>
            <a:off x="7151914" y="3124199"/>
            <a:ext cx="3053443" cy="30534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4D85DF8D-0059-EA12-E5BF-0FFD074FF275}"/>
              </a:ext>
            </a:extLst>
          </p:cNvPr>
          <p:cNvPicPr>
            <a:picLocks noChangeAspect="1"/>
          </p:cNvPicPr>
          <p:nvPr/>
        </p:nvPicPr>
        <p:blipFill>
          <a:blip r:embed="rId3"/>
          <a:stretch>
            <a:fillRect/>
          </a:stretch>
        </p:blipFill>
        <p:spPr>
          <a:xfrm>
            <a:off x="3411794" y="376084"/>
            <a:ext cx="5594556" cy="6105832"/>
          </a:xfrm>
          <a:prstGeom prst="rect">
            <a:avLst/>
          </a:prstGeom>
        </p:spPr>
      </p:pic>
    </p:spTree>
    <p:extLst>
      <p:ext uri="{BB962C8B-B14F-4D97-AF65-F5344CB8AC3E}">
        <p14:creationId xmlns:p14="http://schemas.microsoft.com/office/powerpoint/2010/main" val="2284770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AD0C3-DDE0-77F4-E61F-BA051856CD43}"/>
              </a:ext>
            </a:extLst>
          </p:cNvPr>
          <p:cNvSpPr/>
          <p:nvPr/>
        </p:nvSpPr>
        <p:spPr>
          <a:xfrm>
            <a:off x="3345076" y="273297"/>
            <a:ext cx="4911922"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Testing /Analysis</a:t>
            </a:r>
          </a:p>
        </p:txBody>
      </p:sp>
    </p:spTree>
    <p:extLst>
      <p:ext uri="{BB962C8B-B14F-4D97-AF65-F5344CB8AC3E}">
        <p14:creationId xmlns:p14="http://schemas.microsoft.com/office/powerpoint/2010/main" val="41923217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3D0E2C-DCCF-4DCA-8700-60C67A2E1F4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37802517-FD5A-4D6F-9BEF-6B50583B6D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3FC90C-E938-4D14-B988-1AABB7F8F3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Savon design</Template>
  <TotalTime>335</TotalTime>
  <Words>531</Words>
  <Application>Microsoft Office PowerPoint</Application>
  <PresentationFormat>Widescreen</PresentationFormat>
  <Paragraphs>58</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Calibri</vt:lpstr>
      <vt:lpstr>Courier New</vt:lpstr>
      <vt:lpstr>Eras Bold ITC</vt:lpstr>
      <vt:lpstr>Garamond</vt:lpstr>
      <vt:lpstr>Wingdings</vt:lpstr>
      <vt:lpstr>SavonVTI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Jayanth royal</dc:creator>
  <cp:lastModifiedBy>Jayanth royal</cp:lastModifiedBy>
  <cp:revision>4</cp:revision>
  <dcterms:created xsi:type="dcterms:W3CDTF">2026-01-19T15:49:20Z</dcterms:created>
  <dcterms:modified xsi:type="dcterms:W3CDTF">2026-01-29T17:28:45Z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